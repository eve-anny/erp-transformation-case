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9" name="Shape 1"/>
          <p:cNvSpPr/>
          <p:nvPr/>
        </p:nvSpPr>
        <p:spPr>
          <a:xfrm>
            <a:off x="4114800" y="3200400"/>
            <a:ext cx="73152" cy="1463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2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MANUFACTURING</a:t>
            </a:r>
            <a:endParaRPr lang="en-US" sz="1300" dirty="0"/>
          </a:p>
        </p:txBody>
      </p:sp>
      <p:sp>
        <p:nvSpPr>
          <p:cNvPr id="11" name="Text 3"/>
          <p:cNvSpPr/>
          <p:nvPr/>
        </p:nvSpPr>
        <p:spPr>
          <a:xfrm>
            <a:off x="548640" y="310896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ERP Transformation</a:t>
            </a:r>
            <a:endParaRPr lang="en-US" sz="4800" dirty="0"/>
          </a:p>
        </p:txBody>
      </p:sp>
      <p:sp>
        <p:nvSpPr>
          <p:cNvPr id="12" name="Text 4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deck: scope, outcomes, risk, readiness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Steering Committee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8288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what breaks if we wait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4231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before custom, value before vanity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1752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01752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two-wave roadmap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core go-live + 2-month Wave 2 optimization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6118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KPI commitments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20624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scope vs deferred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420624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doing, and why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0060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54480" y="48006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cutover gates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9360" y="480060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gates, one rollback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9496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54480" y="53949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539496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governance, contingency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standing still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across finance, supply chain, and the plants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0604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2606040" cy="1874520"/>
          </a:xfrm>
          <a:prstGeom prst="rect">
            <a:avLst/>
          </a:prstGeom>
          <a:solidFill>
            <a:srgbClr val="F5F6FA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2140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days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the books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with 1,420 manual JEs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920240"/>
            <a:ext cx="260604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2011680"/>
            <a:ext cx="2606040" cy="1874520"/>
          </a:xfrm>
          <a:prstGeom prst="rect">
            <a:avLst/>
          </a:prstGeom>
          <a:solidFill>
            <a:srgbClr val="F5F6FA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12140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410712" y="288036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error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3273552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 production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98464" y="1920240"/>
            <a:ext cx="260604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98464" y="2011680"/>
            <a:ext cx="2606040" cy="1874520"/>
          </a:xfrm>
          <a:prstGeom prst="rect">
            <a:avLst/>
          </a:prstGeom>
          <a:solidFill>
            <a:srgbClr val="F5F6FA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212140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days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81344" y="288036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inventory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81344" y="3273552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up in working capital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69096" y="1920240"/>
            <a:ext cx="260604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9096" y="2011680"/>
            <a:ext cx="2606040" cy="1874520"/>
          </a:xfrm>
          <a:prstGeom prst="rect">
            <a:avLst/>
          </a:prstGeom>
          <a:solidFill>
            <a:srgbClr val="F5F6FA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12140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951976" y="288036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51976" y="3273552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by 140 point-to-point links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legacy stack is the bottleneck on growth, M&amp;A integration, and audit readiness.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112772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 (planning assumption, to be re-baselined at detailed design): $14-18M per year in working capital drag, rework, and audit remediation.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principles that govern every decision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5303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20240"/>
            <a:ext cx="914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84832"/>
            <a:ext cx="731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08483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before custom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vendor best-practice processes; customize only where audited differentiation exists.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303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920240"/>
            <a:ext cx="914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084832"/>
            <a:ext cx="731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208483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788920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COA, item master, customer master. No regional forks.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5303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31920"/>
            <a:ext cx="914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96512"/>
            <a:ext cx="731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09651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over date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800600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moves if any of five gates is not green. The date is an output, not an input.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931920"/>
            <a:ext cx="5303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3931920"/>
            <a:ext cx="9144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096512"/>
            <a:ext cx="731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06640" y="409651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before vanity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4800600"/>
            <a:ext cx="48463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scope item maps to one of eight KPIs, or it does not enter Day-1.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core go-live + 2-month Wave 2 optimization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stabilizes the core. Wave 2 extends the value.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2868" y="3749040"/>
            <a:ext cx="10365958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68880"/>
            <a:ext cx="1452829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03071" y="360273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41549" y="2468880"/>
            <a:ext cx="1452829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1549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58669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21660" y="360273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04389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integrate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60138" y="2468880"/>
            <a:ext cx="1452829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0138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77258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M8-M9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0249" y="360273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2978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SIT, UAT, mock cutovers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2468880"/>
            <a:ext cx="1452829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8728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5848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838" y="3602736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1568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Finance, P2P, Plants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7317" y="2468880"/>
            <a:ext cx="1452829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7317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14437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M11-M12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77427" y="360273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0157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1:25 ratio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15906" y="2468880"/>
            <a:ext cx="1452829" cy="502920"/>
          </a:xfrm>
          <a:prstGeom prst="rect">
            <a:avLst/>
          </a:prstGeom>
          <a:solidFill>
            <a:srgbClr val="E2A93B"/>
          </a:solidFill>
          <a:ln w="12700">
            <a:solidFill>
              <a:srgbClr val="E2A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906" y="2468880"/>
            <a:ext cx="145282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33026" y="3063240"/>
            <a:ext cx="181858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M13-M14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496017" y="3602736"/>
            <a:ext cx="292608" cy="292608"/>
          </a:xfrm>
          <a:prstGeom prst="ellipse">
            <a:avLst/>
          </a:prstGeom>
          <a:solidFill>
            <a:srgbClr val="E2A93B"/>
          </a:solidFill>
          <a:ln w="12700">
            <a:solidFill>
              <a:srgbClr val="E2A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78746" y="4023360"/>
            <a:ext cx="172714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· Quality · Supplier portal (optimization)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gate review (Steering Committee) at M9.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figure refers to core go-live (M10) under Wave 1; Wave 2 optimization completes by M14. Date moves only if a readiness gate is not green at M9.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- measurable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KPI commitments, 12 months post Go-Live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in the SI statement of work · tracked monthly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2011680"/>
          <a:ext cx="11277295" cy="3456432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close cycle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error rate (released)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≤1.0%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On-time-in-full (OTIF)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pts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days of supply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Order-to-cash cycle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days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journal entries / mo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≤350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PO touch time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 min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min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app footprint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sys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sys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-61%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Office reports KPI deltas to Steering monthly; ≥6 of 8 green required by M+12. Baselines are AMG-validated; target deltas are planning commitments.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scope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live in Wave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core; protect the close; clean the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4320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· AP · AR · FA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08376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COA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511296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92424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in 7 countries (planning assumption)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895344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764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 readiness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27832" y="1965960"/>
            <a:ext cx="26060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965960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Procure-to-Pay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27832" y="246888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274320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262432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contracts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56432" y="3127248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008376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56432" y="3511296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392424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Top-40 suppliers EDI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56432" y="3895344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37764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98464" y="1965960"/>
            <a:ext cx="2606040" cy="502920"/>
          </a:xfrm>
          <a:prstGeom prst="rect">
            <a:avLst/>
          </a:prstGeom>
          <a:solidFill>
            <a:srgbClr val="E2A93B"/>
          </a:solidFill>
          <a:ln w="12700">
            <a:solidFill>
              <a:srgbClr val="E2A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965960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Operations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98464" y="246888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274320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262432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master &amp; BOM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27064" y="3127248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3008376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orders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27064" y="3511296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3392424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WMS-lite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27064" y="3895344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55664" y="37764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via middleware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769096" y="196596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51976" y="1965960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769096" y="246888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97696" y="274320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26296" y="2624328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997696" y="3127248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26296" y="3008376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rebates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997696" y="3511296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26296" y="3392424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invoicing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997696" y="3895344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26296" y="3776472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doing on Day-1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deferrals, each protects the cutover and the eight KPIs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2011680"/>
          <a:ext cx="11277295" cy="3017520"/>
        </p:xfrm>
        <a:graphic>
          <a:graphicData uri="http://schemas.openxmlformats.org/drawingml/2006/table">
            <a:tbl>
              <a:tblPr/>
              <a:tblGrid>
                <a:gridCol w="3200400"/>
                <a:gridCol w="5669280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item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deferred (risk/cost logic)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Re-entry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Planning &amp; Scheduling (APS)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6 mo. of clean demand history from new ERP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2, M+6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portal &amp; EDI long-tail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Top-40 suppliers cover ~86% of spend; 200+ endpoints not worth cutover risk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2, M+8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Shop-floor MES re-platform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MES stable; doubling plant change-impact would jeopardize OTIF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separate program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HR / Payroll consolidation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value thesis; payroll risk in in-scope jurisdictions is unacceptable at cutover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program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demand sensing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Premature without stabilized data; distracts from adoption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2, M+9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440680"/>
            <a:ext cx="112772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440680"/>
            <a:ext cx="112772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~$4.1M Day-1 cost removed  ·  ~38% cutover-weekend integrations  ·  clean foundation for Wave 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integration figures are program planning estimates, refined at detailed design.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continuity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23 legacy systems to one source of truth (planning assumption)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· convert · reconcile · sign-off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10915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7433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Profile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10915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71800"/>
            <a:ext cx="17433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23 sources; rank by KPI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93203" y="32004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749235" y="2331720"/>
            <a:ext cx="210915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2115" y="2331720"/>
            <a:ext cx="17433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9235" y="2834640"/>
            <a:ext cx="210915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2115" y="2971800"/>
            <a:ext cx="17433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Owner-led sprints on item, customer, vendor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5238" y="32004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041270" y="2331720"/>
            <a:ext cx="210915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4150" y="2331720"/>
            <a:ext cx="17433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41270" y="2834640"/>
            <a:ext cx="210915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4150" y="2971800"/>
            <a:ext cx="17433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mock loads (4 cycles)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77273" y="32004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333305" y="2331720"/>
            <a:ext cx="210915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185" y="2331720"/>
            <a:ext cx="17433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Reconcile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33305" y="2834640"/>
            <a:ext cx="210915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185" y="2971800"/>
            <a:ext cx="17433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Dual-run finance close for 2 periods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69308" y="32004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625340" y="2331720"/>
            <a:ext cx="210915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08220" y="2331720"/>
            <a:ext cx="174339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Sign-off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25340" y="2834640"/>
            <a:ext cx="2109155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8220" y="2971800"/>
            <a:ext cx="17433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Site GM, CIO formally accept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≥99.5% master-data accuracy on item, customer, vendor, GL, independently audited.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readiness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cutover gates · top three residual risks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(all must be green 30 days prior)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≥99.5% master-data accuracy; full reconciliation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718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1868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mock cutovers; zero Sev-1 defects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90448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role-based training; key-user certification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59028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 peak load; DR proven; pen-test closed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0749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0292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27608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/ inventory / aging frozen; rollback signed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5486400" cy="4297680"/>
          </a:xfrm>
          <a:prstGeom prst="rect">
            <a:avLst/>
          </a:prstGeom>
          <a:solidFill>
            <a:srgbClr val="F5F6FA"/>
          </a:solidFill>
          <a:ln w="6350">
            <a:solidFill>
              <a:srgbClr val="C8CC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residual risks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2423160"/>
            <a:ext cx="9144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404872"/>
            <a:ext cx="4709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at conversion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20840" y="271576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Cleansing sprints + dual-run finance close for 2 periods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92240" y="3657600"/>
            <a:ext cx="9144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639312"/>
            <a:ext cx="4709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change adoption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20840" y="395020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Site key-user network; hypercare staffed at 1:25 ratio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4892040"/>
            <a:ext cx="9144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873752"/>
            <a:ext cx="4709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integration latency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5184648"/>
            <a:ext cx="4709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Middleware queue + 30-day fallback to legacy posting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go where the accountability lives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1277295" cy="77724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914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1168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2011680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0" y="2011680"/>
            <a:ext cx="597377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chair · CFO · CIO · COO · 2 site GMs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1277295" cy="77724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1752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3017520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0" y="3017520"/>
            <a:ext cx="597377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chair · Domain leads · SI partner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1277295" cy="77724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23360"/>
            <a:ext cx="91440" cy="777240"/>
          </a:xfrm>
          <a:prstGeom prst="rect">
            <a:avLst/>
          </a:prstGeom>
          <a:solidFill>
            <a:srgbClr val="E2A93B"/>
          </a:solidFill>
          <a:ln w="12700">
            <a:solidFill>
              <a:srgbClr val="E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2336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4023360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60720" y="4023360"/>
            <a:ext cx="597377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P2P · Plant Ops · OTC ·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11277295" cy="77724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29200"/>
            <a:ext cx="914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2920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Office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60520" y="5029200"/>
            <a:ext cx="1463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60720" y="5029200"/>
            <a:ext cx="597377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8 KPIs end-to-end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reserve: 12% of program cost, held centrally, released only by Steering.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· ERP TRANSFORMATION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85455" y="4572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solidFill>
            <a:srgbClr val="141A4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5815" y="91440"/>
            <a:ext cx="960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46520"/>
            <a:ext cx="11460175" cy="0"/>
          </a:xfrm>
          <a:prstGeom prst="line">
            <a:avLst/>
          </a:prstGeom>
          <a:noFill/>
          <a:ln w="6350">
            <a:solidFill>
              <a:srgbClr val="C8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Transformation Office · Board Pre-Read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today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777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777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554480" y="1874520"/>
            <a:ext cx="9997135" cy="68580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874520"/>
            <a:ext cx="958565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program funding and governance as scoped.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777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777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554480" y="2788920"/>
            <a:ext cx="9997135" cy="68580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788920"/>
            <a:ext cx="958565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eight KPI commitments as contractual targets.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77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777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554480" y="3703320"/>
            <a:ext cx="9997135" cy="68580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3703320"/>
            <a:ext cx="958565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deferred-scope list, five items out of Day-1.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777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17720"/>
            <a:ext cx="777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554480" y="4617720"/>
            <a:ext cx="9997135" cy="685800"/>
          </a:xfrm>
          <a:prstGeom prst="rect">
            <a:avLst/>
          </a:prstGeom>
          <a:solidFill>
            <a:srgbClr val="F5F6FA"/>
          </a:solidFill>
          <a:ln w="5080">
            <a:solidFill>
              <a:srgbClr val="C8C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4617720"/>
            <a:ext cx="958565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Steering to move the cutover date if any of the five gates is not green at M9.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532120"/>
            <a:ext cx="11277295" cy="640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532120"/>
            <a:ext cx="112772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all four.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6758</Words>
  <Application>WPS Presentation</Application>
  <PresentationFormat>On-screen Show (16:9)</PresentationFormat>
  <Paragraphs>538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Asare Benedict Nana</cp:lastModifiedBy>
  <cp:revision>3</cp:revision>
  <dcterms:created xsi:type="dcterms:W3CDTF">2026-04-29T19:19:32Z</dcterms:created>
  <dcterms:modified xsi:type="dcterms:W3CDTF">2026-04-29T19:19:32Z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B980DC1781F0866C0155F269C74456A1_42</vt:lpwstr>
  </property>
  <property fmtid="{D5CDD505-2E9C-101B-9397-08002B2CF9AE}" pid="3" name="KSOProductBuildVer">
    <vt:lpwstr>1033-6.14.0.8716</vt:lpwstr>
  </property>
</Properties>
</file>